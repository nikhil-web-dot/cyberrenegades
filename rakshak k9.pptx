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81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9"/>
    </p:embeddedFon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Inter SemiBold" panose="020B0604020202020204" charset="0"/>
      <p:regular r:id="rId14"/>
      <p:bold r:id="rId15"/>
      <p:italic r:id="rId16"/>
      <p:boldItalic r:id="rId17"/>
    </p:embeddedFont>
    <p:embeddedFont>
      <p:font typeface="Oswald" panose="00000500000000000000" pitchFamily="2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BB8"/>
    <a:srgbClr val="D0D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1453b83c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f71453b83c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1453b83c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6" name="Google Shape;106;g3f71453b83c_2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f71453b83c_2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71453b83c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8" name="Google Shape;118;g3f71453b83c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f71453b83c_2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1453b83c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0" name="Google Shape;130;g3f71453b83c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f71453b83c_2_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71453b83c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9" name="Google Shape;149;g3f71453b83c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f71453b83c_2_1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amtec.com/en/lidar/a1spec" TargetMode="External"/><Relationship Id="rId13" Type="http://schemas.openxmlformats.org/officeDocument/2006/relationships/hyperlink" Target="https://www.hyperledger.org/projects/fabric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espressif.com/en/products/socs/esp32" TargetMode="External"/><Relationship Id="rId12" Type="http://schemas.openxmlformats.org/officeDocument/2006/relationships/hyperlink" Target="https://ipfs.tech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nvidia.com/embedded/jetson-nano-developer-kit" TargetMode="External"/><Relationship Id="rId11" Type="http://schemas.openxmlformats.org/officeDocument/2006/relationships/hyperlink" Target="https://batteryuniversity.com/article/bu-205-types-of-lithium-ion" TargetMode="External"/><Relationship Id="rId5" Type="http://schemas.openxmlformats.org/officeDocument/2006/relationships/hyperlink" Target="https://universe.roboflow.com/be-project-x2dra/railway-station-platform-qozzz" TargetMode="External"/><Relationship Id="rId10" Type="http://schemas.openxmlformats.org/officeDocument/2006/relationships/hyperlink" Target="https://robu.in/product/smartelex-15d-dual-channel-dc-motor-driver/" TargetMode="External"/><Relationship Id="rId4" Type="http://schemas.openxmlformats.org/officeDocument/2006/relationships/hyperlink" Target="https://universe.roboflow.com/project-rail/indian-railway" TargetMode="External"/><Relationship Id="rId9" Type="http://schemas.openxmlformats.org/officeDocument/2006/relationships/hyperlink" Target="https://www.bosch-sensortec.com/products/environmental-sensors/gas-sensors/bme688/" TargetMode="External"/><Relationship Id="rId14" Type="http://schemas.openxmlformats.org/officeDocument/2006/relationships/hyperlink" Target="https://claude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43100" y="-44275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242585" y="638641"/>
            <a:ext cx="3478953" cy="3866225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5141168" y="128691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934265" y="36251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77650" y="-197048"/>
            <a:ext cx="77889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3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7922" y="1148825"/>
            <a:ext cx="5253886" cy="3977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 </a:t>
            </a:r>
            <a:r>
              <a:rPr lang="en" sz="1500" b="1" dirty="0">
                <a:solidFill>
                  <a:srgbClr val="212529"/>
                </a:solidFill>
                <a:highlight>
                  <a:srgbClr val="FFFFFF"/>
                </a:highlight>
              </a:rPr>
              <a:t>SIH26026</a:t>
            </a:r>
            <a:endParaRPr sz="1500" b="1" dirty="0"/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- </a:t>
            </a:r>
            <a:r>
              <a:rPr lang="en" sz="1500" b="1" dirty="0">
                <a:solidFill>
                  <a:schemeClr val="dk1"/>
                </a:solidFill>
              </a:rPr>
              <a:t>AI-Enabled Quadruped &amp; Handheld System for Real-Time Narcotics &amp; Explosives Detection in Indian Railways  </a:t>
            </a:r>
            <a:endParaRPr sz="1500" dirty="0"/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r>
              <a:rPr lang="en" sz="1500" b="1" dirty="0">
                <a:solidFill>
                  <a:schemeClr val="dk1"/>
                </a:solidFill>
              </a:rPr>
              <a:t> - </a:t>
            </a:r>
            <a:r>
              <a:rPr lang="en" sz="1500" b="1" dirty="0">
                <a:solidFill>
                  <a:srgbClr val="212529"/>
                </a:solidFill>
                <a:highlight>
                  <a:srgbClr val="FFFFFF"/>
                </a:highlight>
              </a:rPr>
              <a:t>Blockchain &amp; Cybersecurity</a:t>
            </a:r>
            <a:r>
              <a:rPr lang="en" sz="1500" b="1" dirty="0">
                <a:solidFill>
                  <a:schemeClr val="dk1"/>
                </a:solidFill>
              </a:rPr>
              <a:t> </a:t>
            </a:r>
            <a:endParaRPr sz="1500" b="1" dirty="0"/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</a:t>
            </a:r>
            <a:r>
              <a:rPr lang="en" sz="1500" b="1" dirty="0">
                <a:solidFill>
                  <a:schemeClr val="dk1"/>
                </a:solidFill>
              </a:rPr>
              <a:t> </a:t>
            </a: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sz="1500" dirty="0"/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</a:t>
            </a:r>
            <a:endParaRPr sz="1500" dirty="0"/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</a:t>
            </a:r>
            <a:r>
              <a:rPr lang="en" sz="1500" b="1" dirty="0">
                <a:solidFill>
                  <a:schemeClr val="dk1"/>
                </a:solidFill>
              </a:rPr>
              <a:t> - Cyber Renegades </a:t>
            </a:r>
            <a:endParaRPr sz="15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4812987"/>
            <a:ext cx="9143999" cy="37742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391104" y="305911"/>
            <a:ext cx="5763671" cy="448817"/>
          </a:xfrm>
        </p:spPr>
        <p:txBody>
          <a:bodyPr/>
          <a:lstStyle/>
          <a:p>
            <a:br>
              <a:rPr lang="en-US" sz="27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dirty="0"/>
              <a:t>RAKSHAK-K9:</a:t>
            </a:r>
            <a:r>
              <a:rPr lang="en-US" sz="2000" dirty="0"/>
              <a:t>AI-Powered Quadruped &amp; Handheld System for Real-Time Narcotics and Explosives Detection</a:t>
            </a:r>
            <a:br>
              <a:rPr lang="en-US" sz="2800" dirty="0"/>
            </a:br>
            <a:endParaRPr lang="en-US" sz="27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1548" y="149227"/>
            <a:ext cx="1282766" cy="60550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sz="1050" b="1" dirty="0"/>
              <a:t>Cyber Renegades</a:t>
            </a:r>
            <a:endParaRPr lang="en-IN" sz="10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064" y="1125"/>
            <a:ext cx="1687388" cy="796753"/>
          </a:xfrm>
          <a:prstGeom prst="rect">
            <a:avLst/>
          </a:prstGeom>
        </p:spPr>
      </p:pic>
      <p:sp>
        <p:nvSpPr>
          <p:cNvPr id="2" name="Google Shape;99;p14">
            <a:extLst>
              <a:ext uri="{FF2B5EF4-FFF2-40B4-BE49-F238E27FC236}">
                <a16:creationId xmlns:a16="http://schemas.microsoft.com/office/drawing/2014/main" id="{47F96C30-0E4A-D3FF-C241-434E21BE4D19}"/>
              </a:ext>
            </a:extLst>
          </p:cNvPr>
          <p:cNvSpPr txBox="1">
            <a:spLocks/>
          </p:cNvSpPr>
          <p:nvPr/>
        </p:nvSpPr>
        <p:spPr>
          <a:xfrm>
            <a:off x="6704966" y="2949434"/>
            <a:ext cx="1981834" cy="24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fld id="{00000000-1234-1234-1234-123412341234}" type="slidenum">
              <a:rPr lang="en" b="1" smtClean="0">
                <a:solidFill>
                  <a:schemeClr val="lt1"/>
                </a:solidFill>
              </a:rPr>
              <a:pPr/>
              <a:t>2</a:t>
            </a:fld>
            <a:endParaRPr lang="en" b="1">
              <a:solidFill>
                <a:schemeClr val="lt1"/>
              </a:solidFill>
            </a:endParaRPr>
          </a:p>
        </p:txBody>
      </p:sp>
      <p:sp>
        <p:nvSpPr>
          <p:cNvPr id="3" name="Google Shape;100;p14">
            <a:extLst>
              <a:ext uri="{FF2B5EF4-FFF2-40B4-BE49-F238E27FC236}">
                <a16:creationId xmlns:a16="http://schemas.microsoft.com/office/drawing/2014/main" id="{AD1EE9A4-496D-C70E-D501-1BD71349B6AF}"/>
              </a:ext>
            </a:extLst>
          </p:cNvPr>
          <p:cNvSpPr txBox="1">
            <a:spLocks/>
          </p:cNvSpPr>
          <p:nvPr/>
        </p:nvSpPr>
        <p:spPr>
          <a:xfrm>
            <a:off x="3115970" y="4604242"/>
            <a:ext cx="2232071" cy="24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 spc="0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688AA5-B8A2-E634-4206-80F2BD3E13B4}"/>
              </a:ext>
            </a:extLst>
          </p:cNvPr>
          <p:cNvSpPr/>
          <p:nvPr/>
        </p:nvSpPr>
        <p:spPr>
          <a:xfrm>
            <a:off x="30917" y="838056"/>
            <a:ext cx="1360187" cy="1254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u="sng" dirty="0"/>
              <a:t>PROBLEM EXISTING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C21B33-1C61-6483-0203-AF86CE702992}"/>
              </a:ext>
            </a:extLst>
          </p:cNvPr>
          <p:cNvSpPr/>
          <p:nvPr/>
        </p:nvSpPr>
        <p:spPr>
          <a:xfrm>
            <a:off x="30916" y="2265935"/>
            <a:ext cx="1576007" cy="14868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u="sng" dirty="0"/>
              <a:t>PROPOSED SOLUTION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8B92189-3F58-4224-A23E-36F2AE443E18}"/>
              </a:ext>
            </a:extLst>
          </p:cNvPr>
          <p:cNvSpPr/>
          <p:nvPr/>
        </p:nvSpPr>
        <p:spPr>
          <a:xfrm>
            <a:off x="5707961" y="2191667"/>
            <a:ext cx="1994009" cy="17635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u="sng" dirty="0"/>
              <a:t>UNIQUE VALUE PREPOSITION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7E37C3-348A-5D0B-34ED-50A5E6DDFC0E}"/>
              </a:ext>
            </a:extLst>
          </p:cNvPr>
          <p:cNvSpPr/>
          <p:nvPr/>
        </p:nvSpPr>
        <p:spPr>
          <a:xfrm>
            <a:off x="0" y="2435214"/>
            <a:ext cx="4013947" cy="2357182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Patrol Robot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Quadruped navigates platforms, coaches &amp; tracks via LiDAR-SLAM, scanning 360° for anomalies.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Sensor Activation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classifies first, then fires only the right sensor — BME688, PI metal detector, or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mmWave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scan.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safe distance, alerts officer instantly, inspects via arm — autonomous or remotely controlled 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Detachable Handheld Unit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detection core unclips for close-range, offline investigation in coaches &amp; crowded zones.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Blockchain-Backed Evidence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hit is packaged with GPS + timestamp, stored on IPFS, hash-anchored on blockchain — instant, court-ready proof.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2A336A-5515-6DBA-E109-9B4ED8C6033E}"/>
              </a:ext>
            </a:extLst>
          </p:cNvPr>
          <p:cNvSpPr/>
          <p:nvPr/>
        </p:nvSpPr>
        <p:spPr>
          <a:xfrm>
            <a:off x="5587252" y="2413747"/>
            <a:ext cx="3525831" cy="2378649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+ Legal Proof, One System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stop at an alarm. We carry it through to a blockchain-verified record.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Tamper-Evident &amp; Recoverable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Tampering breaks the IPFS hash instantly, but the original file stays retrievable — nothing is ever truly lost.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With No Network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logging and sync-on-reconnect keep detection running even in dead zones.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Detachable Arm for Manual Inspection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detection unit unclips so an RPF officer can investigate up close, on foot, wherever the robot can't reach.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Robot, Every Terrain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unit patrols platforms, coaches, and tracks — no separate machines needed for each environment.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027FA9-BB18-D8EF-CB4B-ADAC115EA00F}"/>
              </a:ext>
            </a:extLst>
          </p:cNvPr>
          <p:cNvSpPr/>
          <p:nvPr/>
        </p:nvSpPr>
        <p:spPr>
          <a:xfrm>
            <a:off x="0" y="1007789"/>
            <a:ext cx="4558552" cy="99679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Field Detection Tech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RPF secures 1000s of stations but has zero mobile system for real-time narcotics/explosives screening.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Checks Don't Scale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₹300 Cr seized in 2025 alone — yet what's caught is a fraction of what moves through.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Doesn't Hold Up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verifiable chain of custody means a catch can be challenged in court.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3B6467A-A255-775C-BBFC-C0C0ECB4D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947" y="2083695"/>
            <a:ext cx="1429144" cy="145806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EE21C3-98A4-2233-7443-61D04CC88C04}"/>
              </a:ext>
            </a:extLst>
          </p:cNvPr>
          <p:cNvSpPr/>
          <p:nvPr/>
        </p:nvSpPr>
        <p:spPr>
          <a:xfrm>
            <a:off x="4645392" y="838056"/>
            <a:ext cx="875192" cy="1254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u="sng" dirty="0"/>
              <a:t>OUR IDEA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9B0D0C-50A4-A44A-463B-18F01E2DE115}"/>
              </a:ext>
            </a:extLst>
          </p:cNvPr>
          <p:cNvSpPr/>
          <p:nvPr/>
        </p:nvSpPr>
        <p:spPr>
          <a:xfrm>
            <a:off x="4558552" y="1006623"/>
            <a:ext cx="4585448" cy="9979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Rakshak K9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AI quadruped robot that patrols railways, detecting narcotics and explosives via vision, gas, metal, and radar sensors. On a hit, it alerts RPF and offers a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detachable handheld unit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close inspection. Every detection is stored via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and blockchain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tamper-evident, yet always recoverable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E21DC8-A055-01A0-F948-A2CFECE66B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9150"/>
          <a:stretch>
            <a:fillRect/>
          </a:stretch>
        </p:blipFill>
        <p:spPr>
          <a:xfrm>
            <a:off x="4087136" y="3562346"/>
            <a:ext cx="1282766" cy="9634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4" name="Google Shape;114;p15" descr="Your startup LOGO"/>
          <p:cNvSpPr/>
          <p:nvPr/>
        </p:nvSpPr>
        <p:spPr>
          <a:xfrm>
            <a:off x="247330" y="189184"/>
            <a:ext cx="1088175" cy="605501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" sz="800" b="1" dirty="0">
                <a:solidFill>
                  <a:schemeClr val="dk1"/>
                </a:solidFill>
              </a:rPr>
              <a:t> Cyber Renegades 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09FE6E-CD0A-0263-EB5A-970E2532E5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15" b="5346"/>
          <a:stretch>
            <a:fillRect/>
          </a:stretch>
        </p:blipFill>
        <p:spPr>
          <a:xfrm>
            <a:off x="0" y="821530"/>
            <a:ext cx="7096117" cy="38421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A73C64-1B5F-BFA9-C19B-7385E0175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688" y="892478"/>
            <a:ext cx="1993765" cy="35546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0" y="4767265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131063" y="1003701"/>
            <a:ext cx="2877695" cy="28161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68575" tIns="34275" rIns="68575" bIns="34275" anchor="t" anchorCtr="0">
            <a:spAutoFit/>
          </a:bodyPr>
          <a:lstStyle/>
          <a:p>
            <a:endParaRPr lang="en-US" sz="850" b="1" dirty="0"/>
          </a:p>
          <a:p>
            <a:endParaRPr lang="en-US" sz="850" b="1" dirty="0"/>
          </a:p>
          <a:p>
            <a:r>
              <a:rPr lang="en-US" sz="850" b="1" dirty="0"/>
              <a:t>1. ROS 2 + Quadruped Mobility</a:t>
            </a:r>
            <a:br>
              <a:rPr lang="en-US" sz="850" dirty="0"/>
            </a:br>
            <a:r>
              <a:rPr lang="en-US" sz="850" dirty="0"/>
              <a:t>Mature ROS 2/Nav2 ecosystem, better suited for railway terrain, and feasible for prototype development.</a:t>
            </a:r>
          </a:p>
          <a:p>
            <a:r>
              <a:rPr lang="en-US" sz="850" b="1" dirty="0"/>
              <a:t>2. Camera-Gated Sensor Activation</a:t>
            </a:r>
            <a:br>
              <a:rPr lang="en-US" sz="850" dirty="0"/>
            </a:br>
            <a:r>
              <a:rPr lang="en-US" sz="850" dirty="0"/>
              <a:t>Camera-based AI activates sensors only when needed, reducing false alarms, power use, and operator fatigue.</a:t>
            </a:r>
          </a:p>
          <a:p>
            <a:r>
              <a:rPr lang="en-US" sz="850" b="1" dirty="0"/>
              <a:t>3. Layered Detection Architecture</a:t>
            </a:r>
            <a:br>
              <a:rPr lang="en-US" sz="850" dirty="0"/>
            </a:br>
            <a:r>
              <a:rPr lang="en-US" sz="850" dirty="0"/>
              <a:t>BME688 + Pi + camera provide low-cost screening, while advanced confirmation can be centralized at key locations.</a:t>
            </a:r>
          </a:p>
          <a:p>
            <a:r>
              <a:rPr lang="en-US" sz="850" b="1" dirty="0"/>
              <a:t>4. Human-in-the-Loop Arm Control</a:t>
            </a:r>
            <a:br>
              <a:rPr lang="en-US" sz="850" dirty="0"/>
            </a:br>
            <a:r>
              <a:rPr lang="en-US" sz="850" dirty="0"/>
              <a:t>Live-video teleoperation provides safer and more practical control for suspected-IED handling.</a:t>
            </a:r>
          </a:p>
          <a:p>
            <a:r>
              <a:rPr lang="en-US" sz="850" b="1" dirty="0"/>
              <a:t>5. Offline-First Evidence Logging</a:t>
            </a:r>
            <a:br>
              <a:rPr lang="en-US" sz="850" dirty="0"/>
            </a:br>
            <a:r>
              <a:rPr lang="en-US" sz="850" dirty="0"/>
              <a:t>Stores evidence locally, hashes it for integrity, and syncs when connectivity returns—reliable and cost-effective.</a:t>
            </a:r>
          </a:p>
          <a:p>
            <a:endParaRPr lang="en-US" sz="850" dirty="0"/>
          </a:p>
          <a:p>
            <a:endParaRPr lang="en-US" sz="850" dirty="0"/>
          </a:p>
          <a:p>
            <a:endParaRPr lang="en-US" sz="850" dirty="0"/>
          </a:p>
        </p:txBody>
      </p:sp>
      <p:sp>
        <p:nvSpPr>
          <p:cNvPr id="124" name="Google Shape;124;p16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lang="en" sz="9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9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" name="Google Shape;126;p16" descr="Your startup LOGO"/>
          <p:cNvSpPr/>
          <p:nvPr/>
        </p:nvSpPr>
        <p:spPr>
          <a:xfrm>
            <a:off x="247329" y="90155"/>
            <a:ext cx="1337630" cy="605501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r>
              <a:rPr lang="en" sz="1100" b="1" dirty="0"/>
              <a:t>Cyber Renegades</a:t>
            </a:r>
            <a:endParaRPr lang="en-IN" sz="1100" dirty="0"/>
          </a:p>
        </p:txBody>
      </p:sp>
      <p:pic>
        <p:nvPicPr>
          <p:cNvPr id="127" name="Google Shape;12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B6B2A3-62BF-61FF-6B2A-8DC24EC11177}"/>
              </a:ext>
            </a:extLst>
          </p:cNvPr>
          <p:cNvSpPr txBox="1"/>
          <p:nvPr/>
        </p:nvSpPr>
        <p:spPr>
          <a:xfrm>
            <a:off x="3188210" y="1003701"/>
            <a:ext cx="2916938" cy="28777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100" b="1" dirty="0"/>
          </a:p>
          <a:p>
            <a:r>
              <a:rPr lang="en-US" sz="850" b="1" dirty="0"/>
              <a:t>1. BME688 overclaiming narcotics/explosives identification</a:t>
            </a:r>
            <a:br>
              <a:rPr lang="en-US" sz="850" dirty="0"/>
            </a:br>
            <a:r>
              <a:rPr lang="en-US" sz="850" dirty="0"/>
              <a:t>→ Reframe as anomaly-screening, paired with confirmatory detection.</a:t>
            </a:r>
          </a:p>
          <a:p>
            <a:r>
              <a:rPr lang="en-US" sz="850" b="1" dirty="0"/>
              <a:t>2. Legged robot mechanical failure on railway ballast/uneven terrain</a:t>
            </a:r>
            <a:br>
              <a:rPr lang="en-US" sz="850" dirty="0"/>
            </a:br>
            <a:r>
              <a:rPr lang="en-US" sz="850" dirty="0"/>
              <a:t>→ Early terrain testing + fallback "safe mode" on stumble/tip detection.</a:t>
            </a:r>
          </a:p>
          <a:p>
            <a:r>
              <a:rPr lang="en-US" sz="850" b="1" dirty="0"/>
              <a:t>3. Detachable arm connector reliability (dust, vibration)</a:t>
            </a:r>
            <a:br>
              <a:rPr lang="en-US" sz="850" dirty="0"/>
            </a:br>
            <a:r>
              <a:rPr lang="en-US" sz="850" dirty="0"/>
              <a:t>→ Simplify to latch + tethered cable for prototype instead of full autonomous docking.</a:t>
            </a:r>
          </a:p>
          <a:p>
            <a:r>
              <a:rPr lang="en-US" sz="850" b="1" dirty="0"/>
              <a:t>4. Connectivity gaps breaking real-time evidence sync</a:t>
            </a:r>
            <a:br>
              <a:rPr lang="en-US" sz="850" dirty="0"/>
            </a:br>
            <a:r>
              <a:rPr lang="en-US" sz="850" dirty="0"/>
              <a:t>→ Offline-first design: SD card log → hash → sync on reconnect.</a:t>
            </a:r>
          </a:p>
          <a:p>
            <a:r>
              <a:rPr lang="en-US" sz="850" b="1" dirty="0"/>
              <a:t>5. : Payload/Power Budget Exceeded</a:t>
            </a:r>
            <a:br>
              <a:rPr lang="en-US" sz="850" dirty="0"/>
            </a:br>
            <a:r>
              <a:rPr lang="en-US" sz="850" dirty="0"/>
              <a:t>The combined weight and power demand of sensors, cameras, Jetson, arm, and battery may reduce mobility and runtime.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096F8-6CD1-CBD3-0591-19074E06F77A}"/>
              </a:ext>
            </a:extLst>
          </p:cNvPr>
          <p:cNvSpPr txBox="1"/>
          <p:nvPr/>
        </p:nvSpPr>
        <p:spPr>
          <a:xfrm>
            <a:off x="6284600" y="1003701"/>
            <a:ext cx="2728337" cy="287771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endParaRPr lang="en-US" sz="1100" b="1" dirty="0"/>
          </a:p>
          <a:p>
            <a:pPr>
              <a:buNone/>
            </a:pPr>
            <a:r>
              <a:rPr lang="en-US" sz="850" b="1" dirty="0"/>
              <a:t>1. BME688 Detection Limitations</a:t>
            </a:r>
            <a:br>
              <a:rPr lang="en-US" sz="850" dirty="0"/>
            </a:br>
            <a:r>
              <a:rPr lang="en-US" sz="850" dirty="0"/>
              <a:t>→ Use BME688 only for </a:t>
            </a:r>
            <a:r>
              <a:rPr lang="en-US" sz="850" b="1" dirty="0"/>
              <a:t>VOC anomaly screening</a:t>
            </a:r>
            <a:r>
              <a:rPr lang="en-US" sz="850" dirty="0"/>
              <a:t>, followed by secondary sensing or operator verification.</a:t>
            </a:r>
          </a:p>
          <a:p>
            <a:pPr>
              <a:buNone/>
            </a:pPr>
            <a:r>
              <a:rPr lang="en-US" sz="850" b="1" dirty="0"/>
              <a:t>2. Mechanical Failure on Uneven Terrain</a:t>
            </a:r>
            <a:br>
              <a:rPr lang="en-US" sz="850" dirty="0"/>
            </a:br>
            <a:r>
              <a:rPr lang="en-US" sz="850" dirty="0"/>
              <a:t>→ Perform extensive terrain testing and add </a:t>
            </a:r>
            <a:r>
              <a:rPr lang="en-US" sz="850" b="1" dirty="0"/>
              <a:t>stumble/tip detection</a:t>
            </a:r>
            <a:r>
              <a:rPr lang="en-US" sz="850" dirty="0"/>
              <a:t> to stop the robot and alert the operator.</a:t>
            </a:r>
          </a:p>
          <a:p>
            <a:pPr>
              <a:buNone/>
            </a:pPr>
            <a:r>
              <a:rPr lang="en-US" sz="850" b="1" dirty="0"/>
              <a:t>3. Detachable Arm Reliability</a:t>
            </a:r>
            <a:br>
              <a:rPr lang="en-US" sz="850" dirty="0"/>
            </a:br>
            <a:r>
              <a:rPr lang="en-US" sz="850" dirty="0"/>
              <a:t>→ Use a </a:t>
            </a:r>
            <a:r>
              <a:rPr lang="en-US" sz="850" b="1" dirty="0"/>
              <a:t>simple latch with tethered cables</a:t>
            </a:r>
            <a:r>
              <a:rPr lang="en-US" sz="850" dirty="0"/>
              <a:t> initially; upgrade to rugged connectors after testing.</a:t>
            </a:r>
          </a:p>
          <a:p>
            <a:pPr>
              <a:buNone/>
            </a:pPr>
            <a:r>
              <a:rPr lang="en-US" sz="850" b="1" dirty="0"/>
              <a:t>4. Connectivity Gaps</a:t>
            </a:r>
            <a:br>
              <a:rPr lang="en-US" sz="850" dirty="0"/>
            </a:br>
            <a:r>
              <a:rPr lang="en-US" sz="850" dirty="0"/>
              <a:t>→ </a:t>
            </a:r>
            <a:r>
              <a:rPr lang="en-US" sz="850" b="1" dirty="0"/>
              <a:t>Log data locally, hash it, and sync</a:t>
            </a:r>
            <a:r>
              <a:rPr lang="en-US" sz="850" dirty="0"/>
              <a:t> to the blockchain/dashboard when connectivity returns, preventing evidence loss.</a:t>
            </a:r>
          </a:p>
          <a:p>
            <a:pPr>
              <a:buNone/>
            </a:pPr>
            <a:r>
              <a:rPr lang="en-US" sz="850" b="1" dirty="0"/>
              <a:t>5. Payload/Power Budget</a:t>
            </a:r>
            <a:br>
              <a:rPr lang="en-US" sz="850" dirty="0"/>
            </a:br>
            <a:r>
              <a:rPr lang="en-US" sz="850" dirty="0"/>
              <a:t>→ Perform an early </a:t>
            </a:r>
            <a:r>
              <a:rPr lang="en-US" sz="850" b="1" dirty="0"/>
              <a:t>mass and power budget</a:t>
            </a:r>
            <a:r>
              <a:rPr lang="en-US" sz="850" dirty="0"/>
              <a:t>, use camera-gated sensors, and deploy </a:t>
            </a:r>
            <a:r>
              <a:rPr lang="en-US" sz="850" b="1" dirty="0"/>
              <a:t>swappable batteries</a:t>
            </a:r>
            <a:r>
              <a:rPr lang="en-US" sz="850" dirty="0"/>
              <a:t> to extend runtime.</a:t>
            </a:r>
          </a:p>
          <a:p>
            <a:pPr>
              <a:buNone/>
            </a:pPr>
            <a:endParaRPr lang="en-US" sz="850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022CE167-48CB-6DED-98F0-1F0E6186F543}"/>
              </a:ext>
            </a:extLst>
          </p:cNvPr>
          <p:cNvSpPr/>
          <p:nvPr/>
        </p:nvSpPr>
        <p:spPr>
          <a:xfrm>
            <a:off x="42163" y="867773"/>
            <a:ext cx="1657848" cy="291465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Technical  Feasibility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EE000D23-E652-F4F0-BC98-AADE41F3443A}"/>
              </a:ext>
            </a:extLst>
          </p:cNvPr>
          <p:cNvSpPr/>
          <p:nvPr/>
        </p:nvSpPr>
        <p:spPr>
          <a:xfrm>
            <a:off x="3097658" y="867774"/>
            <a:ext cx="1160316" cy="291465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Risks</a:t>
            </a:r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2C3AE0C7-A53D-1428-9FFF-4C397C78983E}"/>
              </a:ext>
            </a:extLst>
          </p:cNvPr>
          <p:cNvSpPr/>
          <p:nvPr/>
        </p:nvSpPr>
        <p:spPr>
          <a:xfrm>
            <a:off x="6184900" y="867774"/>
            <a:ext cx="2063722" cy="291465"/>
          </a:xfrm>
          <a:prstGeom prst="flowChartAlternateProcess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000" b="1" dirty="0">
                <a:solidFill>
                  <a:schemeClr val="tx1"/>
                </a:solidFill>
              </a:rPr>
              <a:t>Strategies to Solve the risks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701DE8B-2EE2-FC79-E0DF-C11CD16DF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2" y="3937615"/>
            <a:ext cx="8958795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dirty="0"/>
          </a:p>
        </p:txBody>
      </p:sp>
      <p:sp>
        <p:nvSpPr>
          <p:cNvPr id="139" name="Google Shape;139;p17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lang="en" sz="9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9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4207934" y="895205"/>
            <a:ext cx="4046405" cy="245494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endParaRPr lang="en-US" sz="1100" dirty="0">
              <a:highlight>
                <a:srgbClr val="D0D7E8"/>
              </a:highlight>
            </a:endParaRPr>
          </a:p>
        </p:txBody>
      </p:sp>
      <p:sp>
        <p:nvSpPr>
          <p:cNvPr id="145" name="Google Shape;145;p17" descr="Your startup LOGO"/>
          <p:cNvSpPr/>
          <p:nvPr/>
        </p:nvSpPr>
        <p:spPr>
          <a:xfrm>
            <a:off x="247330" y="189185"/>
            <a:ext cx="1349822" cy="605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yber Renegades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C9546E-4BA9-C45F-636F-C81A1EC9A683}"/>
              </a:ext>
            </a:extLst>
          </p:cNvPr>
          <p:cNvSpPr txBox="1"/>
          <p:nvPr/>
        </p:nvSpPr>
        <p:spPr>
          <a:xfrm>
            <a:off x="230744" y="923390"/>
            <a:ext cx="3658504" cy="239915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300" b="0" u="sng" dirty="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300" dirty="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300" b="0" dirty="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300" dirty="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300" b="0" dirty="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300" dirty="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300" b="0" dirty="0">
              <a:solidFill>
                <a:srgbClr val="33415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2B0396-CB08-1611-758D-AC6968601342}"/>
              </a:ext>
            </a:extLst>
          </p:cNvPr>
          <p:cNvSpPr txBox="1"/>
          <p:nvPr/>
        </p:nvSpPr>
        <p:spPr>
          <a:xfrm>
            <a:off x="4409068" y="1181476"/>
            <a:ext cx="2943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Multidimensional Advantages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FF217C-B301-4665-9CCC-630EC58C8DC2}"/>
              </a:ext>
            </a:extLst>
          </p:cNvPr>
          <p:cNvSpPr txBox="1"/>
          <p:nvPr/>
        </p:nvSpPr>
        <p:spPr>
          <a:xfrm>
            <a:off x="180671" y="914579"/>
            <a:ext cx="2200504" cy="290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300" u="sng" dirty="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Potential Impact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FB0C8C-1DCE-8B07-F34B-FA449D786600}"/>
              </a:ext>
            </a:extLst>
          </p:cNvPr>
          <p:cNvSpPr txBox="1"/>
          <p:nvPr/>
        </p:nvSpPr>
        <p:spPr>
          <a:xfrm>
            <a:off x="390541" y="1244703"/>
            <a:ext cx="3591164" cy="35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US" sz="850" b="1" dirty="0"/>
              <a:t>Security Personnel:</a:t>
            </a:r>
            <a:r>
              <a:rPr lang="en-US" sz="850" dirty="0"/>
              <a:t> Reduces the need for humans to approach suspicious bags or objects first.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9726F3-08A1-5D32-D626-CFACE391B7E5}"/>
              </a:ext>
            </a:extLst>
          </p:cNvPr>
          <p:cNvSpPr txBox="1"/>
          <p:nvPr/>
        </p:nvSpPr>
        <p:spPr>
          <a:xfrm>
            <a:off x="360061" y="1552933"/>
            <a:ext cx="3718556" cy="35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50" b="1" dirty="0"/>
              <a:t>Reduced Risk:</a:t>
            </a:r>
            <a:r>
              <a:rPr lang="en-US" sz="850" dirty="0"/>
              <a:t> Helps minimize exposure to potentially dangerous objects.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BCA3CC-C317-1343-4427-0AA0992DA35F}"/>
              </a:ext>
            </a:extLst>
          </p:cNvPr>
          <p:cNvSpPr txBox="1"/>
          <p:nvPr/>
        </p:nvSpPr>
        <p:spPr>
          <a:xfrm>
            <a:off x="360061" y="1890750"/>
            <a:ext cx="3591164" cy="35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50" b="1" dirty="0"/>
              <a:t>Large-Scale Impact:</a:t>
            </a:r>
            <a:r>
              <a:rPr lang="en-US" sz="850" dirty="0"/>
              <a:t> Even a small reduction in undetected threats can protect thousands of passengers.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B3BD5F-F9A1-3EB9-F5BC-59245F77F185}"/>
              </a:ext>
            </a:extLst>
          </p:cNvPr>
          <p:cNvSpPr txBox="1"/>
          <p:nvPr/>
        </p:nvSpPr>
        <p:spPr>
          <a:xfrm>
            <a:off x="360060" y="2234432"/>
            <a:ext cx="3531111" cy="35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50" b="1" dirty="0"/>
              <a:t>Faster Screening:</a:t>
            </a:r>
            <a:r>
              <a:rPr lang="en-US" sz="850" dirty="0"/>
              <a:t> Enables quicker and more consistent screening at high-footfall stations.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19E5C5-B7E8-BB65-A85F-028347FD97C8}"/>
              </a:ext>
            </a:extLst>
          </p:cNvPr>
          <p:cNvSpPr txBox="1"/>
          <p:nvPr/>
        </p:nvSpPr>
        <p:spPr>
          <a:xfrm>
            <a:off x="390541" y="2578113"/>
            <a:ext cx="3591164" cy="35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US" sz="850" b="1" dirty="0"/>
              <a:t>Passengers &amp; Railway Staff:</a:t>
            </a:r>
            <a:r>
              <a:rPr lang="en-US" sz="850" dirty="0"/>
              <a:t> Improved safety at stations across Indian Railways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457D94-B2E3-9C79-A12F-3A160615DDB0}"/>
              </a:ext>
            </a:extLst>
          </p:cNvPr>
          <p:cNvSpPr txBox="1"/>
          <p:nvPr/>
        </p:nvSpPr>
        <p:spPr>
          <a:xfrm>
            <a:off x="387051" y="2915473"/>
            <a:ext cx="3504523" cy="351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850" b="1" dirty="0"/>
              <a:t>Tamper-Proof Evidence:</a:t>
            </a:r>
            <a:r>
              <a:rPr lang="en-US" sz="850" dirty="0"/>
              <a:t> Securely logs incidents for investigation and follow-up action.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AE2061-E9D1-5BFD-FEE5-FA2AF5256071}"/>
              </a:ext>
            </a:extLst>
          </p:cNvPr>
          <p:cNvSpPr txBox="1"/>
          <p:nvPr/>
        </p:nvSpPr>
        <p:spPr>
          <a:xfrm>
            <a:off x="4450452" y="1467583"/>
            <a:ext cx="4572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0" b="1" dirty="0"/>
              <a:t>Social</a:t>
            </a:r>
            <a:endParaRPr lang="en-US" sz="85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850" dirty="0"/>
              <a:t>Reduces officers’ direct exposure to suspicious objects.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850" dirty="0"/>
              <a:t>Enables safer remote monitoring and decision-making.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850" dirty="0"/>
              <a:t>Improves public safety and confidence at busy stations.</a:t>
            </a:r>
            <a:endParaRPr lang="en-US" sz="85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CF1C18-B32D-89A5-E1B8-33F5D6C5F72E}"/>
              </a:ext>
            </a:extLst>
          </p:cNvPr>
          <p:cNvSpPr txBox="1"/>
          <p:nvPr/>
        </p:nvSpPr>
        <p:spPr>
          <a:xfrm>
            <a:off x="4459141" y="2122676"/>
            <a:ext cx="45720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0" b="1" dirty="0"/>
              <a:t>Environmental</a:t>
            </a:r>
            <a:endParaRPr lang="en-US" sz="85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850" dirty="0"/>
              <a:t>Battery-electric operation produces no direct operational emissions.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850" dirty="0"/>
              <a:t>Reusable and rugged hardware reduces disposable equipment waste.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B07159-FC72-339E-8CE0-3B551A387107}"/>
              </a:ext>
            </a:extLst>
          </p:cNvPr>
          <p:cNvSpPr txBox="1"/>
          <p:nvPr/>
        </p:nvSpPr>
        <p:spPr>
          <a:xfrm>
            <a:off x="4472279" y="2600292"/>
            <a:ext cx="4572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0" b="1" dirty="0"/>
              <a:t>Economic</a:t>
            </a:r>
            <a:endParaRPr lang="en-US" sz="85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850" dirty="0"/>
              <a:t>Layered detection keeps deployment costs manageable.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850" dirty="0"/>
              <a:t>Reduces manpower required for routine security screening.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850" dirty="0"/>
              <a:t>Helps minimize costs from delayed or missed threat responses.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55305-F8E0-4C0E-4EA2-77ECAB6DF5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76" t="15397" r="1320" b="9256"/>
          <a:stretch>
            <a:fillRect/>
          </a:stretch>
        </p:blipFill>
        <p:spPr>
          <a:xfrm>
            <a:off x="52315" y="833582"/>
            <a:ext cx="8970137" cy="3920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lang="en" sz="9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9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 descr="Your startup LOGO"/>
          <p:cNvSpPr/>
          <p:nvPr/>
        </p:nvSpPr>
        <p:spPr>
          <a:xfrm>
            <a:off x="247330" y="189184"/>
            <a:ext cx="1343726" cy="605501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yber renegades 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3D1836-EAC1-48E6-096A-62F3B6BE98B9}"/>
              </a:ext>
            </a:extLst>
          </p:cNvPr>
          <p:cNvSpPr txBox="1"/>
          <p:nvPr/>
        </p:nvSpPr>
        <p:spPr>
          <a:xfrm>
            <a:off x="247330" y="858375"/>
            <a:ext cx="8229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Char char="q"/>
            </a:pPr>
            <a:r>
              <a:rPr lang="en-US" sz="900" b="1" dirty="0"/>
              <a:t>Datasets</a:t>
            </a:r>
            <a:endParaRPr lang="en-US" sz="900" dirty="0"/>
          </a:p>
          <a:p>
            <a:pPr lvl="0"/>
            <a:r>
              <a:rPr lang="en-US" sz="900" dirty="0"/>
              <a:t>Indian Railway Dataset – Project Rail (</a:t>
            </a:r>
            <a:r>
              <a:rPr lang="en-US" sz="900" dirty="0" err="1"/>
              <a:t>Roboflow</a:t>
            </a:r>
            <a:r>
              <a:rPr lang="en-US" sz="900" dirty="0"/>
              <a:t> Universe)</a:t>
            </a:r>
            <a:br>
              <a:rPr lang="en-US" sz="900" dirty="0"/>
            </a:br>
            <a:r>
              <a:rPr lang="en-US" sz="900" dirty="0">
                <a:hlinkClick r:id="rId4"/>
              </a:rPr>
              <a:t>https://universe.roboflow.com/project-rail/indian-railway</a:t>
            </a:r>
            <a:endParaRPr lang="en-US" sz="900" dirty="0"/>
          </a:p>
          <a:p>
            <a:pPr lvl="0"/>
            <a:r>
              <a:rPr lang="en-US" sz="900" dirty="0"/>
              <a:t>Railway Station Platform Dataset – BE Project (</a:t>
            </a:r>
            <a:r>
              <a:rPr lang="en-US" sz="900" dirty="0" err="1"/>
              <a:t>Roboflow</a:t>
            </a:r>
            <a:r>
              <a:rPr lang="en-US" sz="900" dirty="0"/>
              <a:t> Universe)</a:t>
            </a:r>
            <a:br>
              <a:rPr lang="en-US" sz="900" dirty="0"/>
            </a:br>
            <a:r>
              <a:rPr lang="en-US" sz="900" dirty="0">
                <a:hlinkClick r:id="rId5"/>
              </a:rPr>
              <a:t>https://universe.roboflow.com/be-project-x2dra/railway-station-platform-qozzz</a:t>
            </a: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b="1" dirty="0"/>
              <a:t>Compute &amp; Navigation</a:t>
            </a:r>
            <a:endParaRPr lang="en-US" sz="900" dirty="0"/>
          </a:p>
          <a:p>
            <a:pPr lvl="0"/>
            <a:r>
              <a:rPr lang="en-US" sz="900" dirty="0"/>
              <a:t>NVIDIA Jetson Nano – Embedded Developer Kit (NVIDIA)</a:t>
            </a:r>
            <a:br>
              <a:rPr lang="en-US" sz="900" dirty="0"/>
            </a:br>
            <a:r>
              <a:rPr lang="en-US" sz="900" dirty="0">
                <a:hlinkClick r:id="rId6"/>
              </a:rPr>
              <a:t>https://developer.nvidia.com/embedded/jetson-nano-developer-kit</a:t>
            </a:r>
            <a:endParaRPr lang="en-US" sz="900" dirty="0"/>
          </a:p>
          <a:p>
            <a:pPr lvl="0"/>
            <a:r>
              <a:rPr lang="en-US" sz="900" dirty="0"/>
              <a:t>ESP32-WROOM-32D Datasheet (</a:t>
            </a:r>
            <a:r>
              <a:rPr lang="en-US" sz="900" dirty="0" err="1"/>
              <a:t>Espressif</a:t>
            </a:r>
            <a:r>
              <a:rPr lang="en-US" sz="900" dirty="0"/>
              <a:t> Systems)</a:t>
            </a:r>
            <a:br>
              <a:rPr lang="en-US" sz="900" dirty="0"/>
            </a:br>
            <a:r>
              <a:rPr lang="en-US" sz="900" dirty="0">
                <a:hlinkClick r:id="rId7"/>
              </a:rPr>
              <a:t>https://www.espressif.com/en/products/socs/esp32</a:t>
            </a: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b="1" dirty="0"/>
              <a:t>Sensors</a:t>
            </a:r>
            <a:endParaRPr lang="en-US" sz="900" dirty="0"/>
          </a:p>
          <a:p>
            <a:pPr lvl="0"/>
            <a:r>
              <a:rPr lang="en-US" sz="900" dirty="0" err="1"/>
              <a:t>RPLiDAR</a:t>
            </a:r>
            <a:r>
              <a:rPr lang="en-US" sz="900" dirty="0"/>
              <a:t> A1 (A1M8) Specifications (SLAMTEC)</a:t>
            </a:r>
            <a:br>
              <a:rPr lang="en-US" sz="900" dirty="0"/>
            </a:br>
            <a:r>
              <a:rPr lang="en-US" sz="900" dirty="0">
                <a:hlinkClick r:id="rId8"/>
              </a:rPr>
              <a:t>https://www.slamtec.com/en/lidar/a1spec</a:t>
            </a:r>
            <a:endParaRPr lang="en-US" sz="900" dirty="0"/>
          </a:p>
          <a:p>
            <a:pPr lvl="0"/>
            <a:r>
              <a:rPr lang="en-US" sz="900" dirty="0"/>
              <a:t>BME688 Gas Sensor &amp; BSEC AI-Studio (Bosch </a:t>
            </a:r>
            <a:r>
              <a:rPr lang="en-US" sz="900" dirty="0" err="1"/>
              <a:t>Sensortec</a:t>
            </a:r>
            <a:r>
              <a:rPr lang="en-US" sz="900" dirty="0"/>
              <a:t>)</a:t>
            </a:r>
            <a:br>
              <a:rPr lang="en-US" sz="900" dirty="0"/>
            </a:br>
            <a:r>
              <a:rPr lang="en-US" sz="900" dirty="0">
                <a:hlinkClick r:id="rId9"/>
              </a:rPr>
              <a:t>https://www.bosch-sensortec.com/products/environmental-sensors/gas-sensors/bme688/</a:t>
            </a: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b="1" dirty="0"/>
              <a:t>Drivetrain &amp; Power</a:t>
            </a:r>
            <a:endParaRPr lang="en-US" sz="900" dirty="0"/>
          </a:p>
          <a:p>
            <a:pPr lvl="0"/>
            <a:r>
              <a:rPr lang="en-US" sz="900" dirty="0" err="1"/>
              <a:t>SmartElex</a:t>
            </a:r>
            <a:r>
              <a:rPr lang="en-US" sz="900" dirty="0"/>
              <a:t> 15D Dual DC Motor Driver (Robu.in)</a:t>
            </a:r>
            <a:br>
              <a:rPr lang="en-US" sz="900" dirty="0"/>
            </a:br>
            <a:r>
              <a:rPr lang="en-US" sz="900" dirty="0">
                <a:hlinkClick r:id="rId10"/>
              </a:rPr>
              <a:t>https://robu.in/product/smartelex-15d-dual-channel-dc-motor-driver/</a:t>
            </a:r>
            <a:endParaRPr lang="en-US" sz="900" dirty="0"/>
          </a:p>
          <a:p>
            <a:pPr lvl="0"/>
            <a:r>
              <a:rPr lang="en-US" sz="900" dirty="0"/>
              <a:t>Lithium-ion Battery Architecture Guide (Battery University)</a:t>
            </a:r>
            <a:br>
              <a:rPr lang="en-US" sz="900" dirty="0"/>
            </a:br>
            <a:r>
              <a:rPr lang="en-US" sz="900" dirty="0">
                <a:hlinkClick r:id="rId11"/>
              </a:rPr>
              <a:t>https://batteryuniversity.com/article/bu-205-types-of-lithium-ion</a:t>
            </a: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b="1" dirty="0"/>
              <a:t>Blockchain, IPFS &amp; Edge AI Research</a:t>
            </a:r>
            <a:endParaRPr lang="en-US" sz="900" dirty="0"/>
          </a:p>
          <a:p>
            <a:pPr lvl="0"/>
            <a:r>
              <a:rPr lang="en-US" sz="900" dirty="0"/>
              <a:t>IPFS Official Documentation</a:t>
            </a:r>
            <a:br>
              <a:rPr lang="en-US" sz="900" dirty="0"/>
            </a:br>
            <a:r>
              <a:rPr lang="en-US" sz="900" dirty="0">
                <a:hlinkClick r:id="rId12"/>
              </a:rPr>
              <a:t>https://ipfs.tech/</a:t>
            </a:r>
            <a:endParaRPr lang="en-US" sz="900" dirty="0"/>
          </a:p>
          <a:p>
            <a:pPr lvl="0"/>
            <a:r>
              <a:rPr lang="en-US" sz="900" dirty="0"/>
              <a:t>Hyperledger Fabric (Hyperledger Foundation)</a:t>
            </a:r>
            <a:br>
              <a:rPr lang="en-US" sz="900" dirty="0"/>
            </a:br>
            <a:r>
              <a:rPr lang="en-US" sz="900" dirty="0">
                <a:hlinkClick r:id="rId13"/>
              </a:rPr>
              <a:t>https://www.hyperledger.org/projects/fabric</a:t>
            </a: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900" b="1" dirty="0"/>
              <a:t>AI Tools</a:t>
            </a:r>
            <a:endParaRPr lang="en-US" sz="900" dirty="0"/>
          </a:p>
          <a:p>
            <a:pPr lvl="0"/>
            <a:r>
              <a:rPr lang="en-US" sz="900" dirty="0"/>
              <a:t>Claude (Anthropic) – AI Assistant used for research and system design</a:t>
            </a:r>
            <a:br>
              <a:rPr lang="en-US" sz="900" dirty="0"/>
            </a:br>
            <a:r>
              <a:rPr lang="en-US" sz="900" dirty="0">
                <a:hlinkClick r:id="rId14"/>
              </a:rPr>
              <a:t>https://claude.ai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1249</Words>
  <Application>Microsoft Office PowerPoint</Application>
  <PresentationFormat>On-screen Show (16:9)</PresentationFormat>
  <Paragraphs>114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Oswald</vt:lpstr>
      <vt:lpstr>Garamond</vt:lpstr>
      <vt:lpstr>Calibri</vt:lpstr>
      <vt:lpstr>ＭＳ Ｐゴシック</vt:lpstr>
      <vt:lpstr>Times New Roman</vt:lpstr>
      <vt:lpstr>Wingdings</vt:lpstr>
      <vt:lpstr>Inter SemiBold</vt:lpstr>
      <vt:lpstr>Office Theme</vt:lpstr>
      <vt:lpstr>SMART INDIA HACKATHON 2026</vt:lpstr>
      <vt:lpstr> RAKSHAK-K9:AI-Powered Quadruped &amp; Handheld System for Real-Time Narcotics and Explosives Detection 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Tahira Begum Barbhuiya</cp:lastModifiedBy>
  <cp:revision>15</cp:revision>
  <dcterms:modified xsi:type="dcterms:W3CDTF">2026-09-06T05:33:01Z</dcterms:modified>
</cp:coreProperties>
</file>